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84dd0670a04a67" /><Relationship Type="http://schemas.openxmlformats.org/officeDocument/2006/relationships/extended-properties" Target="/docProps/app.xml" Id="Rb1ea63f6207845c6" /><Relationship Type="http://schemas.openxmlformats.org/officeDocument/2006/relationships/officeDocument" Target="/ppt/presentation.xml" Id="R5f3233286a4843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2029bec4db4aa6"/>
  </p:sldMasterIdLst>
  <p:notesMasterIdLst>
    <p:notesMasterId xmlns:r="http://schemas.openxmlformats.org/officeDocument/2006/relationships" r:id="R8a99e249dd9540ba"/>
  </p:notesMasterIdLst>
  <p:sldIdLst>
    <p:sldId xmlns:r="http://schemas.openxmlformats.org/officeDocument/2006/relationships" id="256" r:id="R519e5c05701d4cc6"/>
    <p:sldId xmlns:r="http://schemas.openxmlformats.org/officeDocument/2006/relationships" id="257" r:id="R2ca1846591034acd"/>
    <p:sldId xmlns:r="http://schemas.openxmlformats.org/officeDocument/2006/relationships" id="258" r:id="Rd47a19d565af4571"/>
    <p:sldId xmlns:r="http://schemas.openxmlformats.org/officeDocument/2006/relationships" id="259" r:id="R88c0b2e275c342da"/>
    <p:sldId xmlns:r="http://schemas.openxmlformats.org/officeDocument/2006/relationships" id="260" r:id="R564e6df156794e3b"/>
    <p:sldId xmlns:r="http://schemas.openxmlformats.org/officeDocument/2006/relationships" id="261" r:id="R07bcf34ebfb540bf"/>
    <p:sldId xmlns:r="http://schemas.openxmlformats.org/officeDocument/2006/relationships" id="262" r:id="Reb76a516d4b742fa"/>
    <p:sldId xmlns:r="http://schemas.openxmlformats.org/officeDocument/2006/relationships" id="263" r:id="R3cda193a2cdd401a"/>
    <p:sldId xmlns:r="http://schemas.openxmlformats.org/officeDocument/2006/relationships" id="264" r:id="Rf17b8ba783f842bc"/>
    <p:sldId xmlns:r="http://schemas.openxmlformats.org/officeDocument/2006/relationships" id="265" r:id="R01b4bb67a0aa41a4"/>
    <p:sldId xmlns:r="http://schemas.openxmlformats.org/officeDocument/2006/relationships" id="266" r:id="R966ecbaa1e16419b"/>
    <p:sldId xmlns:r="http://schemas.openxmlformats.org/officeDocument/2006/relationships" id="267" r:id="R2542e06bda164b12"/>
    <p:sldId xmlns:r="http://schemas.openxmlformats.org/officeDocument/2006/relationships" id="268" r:id="Rb72cdafbf6f44f3f"/>
    <p:sldId xmlns:r="http://schemas.openxmlformats.org/officeDocument/2006/relationships" id="269" r:id="R68885ab4f83b42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a9b50959ad44bf" /><Relationship Type="http://schemas.openxmlformats.org/officeDocument/2006/relationships/slideMaster" Target="/ppt/slideMasters/slideMaster1.xml" Id="R382029bec4db4aa6" /><Relationship Type="http://schemas.openxmlformats.org/officeDocument/2006/relationships/notesMaster" Target="/ppt/notesMasters/notesMaster1.xml" Id="R8a99e249dd9540ba" /><Relationship Type="http://schemas.openxmlformats.org/officeDocument/2006/relationships/presProps" Target="/ppt/presProps.xml" Id="R58a71b326716475b" /><Relationship Type="http://schemas.openxmlformats.org/officeDocument/2006/relationships/tableStyles" Target="/ppt/tableStyles.xml" Id="Rfa570fc54f904b68" /><Relationship Type="http://schemas.openxmlformats.org/officeDocument/2006/relationships/slide" Target="/ppt/slides/slide1.xml" Id="R519e5c05701d4cc6" /><Relationship Type="http://schemas.openxmlformats.org/officeDocument/2006/relationships/slide" Target="/ppt/slides/slide2.xml" Id="R2ca1846591034acd" /><Relationship Type="http://schemas.openxmlformats.org/officeDocument/2006/relationships/slide" Target="/ppt/slides/slide3.xml" Id="Rd47a19d565af4571" /><Relationship Type="http://schemas.openxmlformats.org/officeDocument/2006/relationships/slide" Target="/ppt/slides/slide4.xml" Id="R88c0b2e275c342da" /><Relationship Type="http://schemas.openxmlformats.org/officeDocument/2006/relationships/slide" Target="/ppt/slides/slide5.xml" Id="R564e6df156794e3b" /><Relationship Type="http://schemas.openxmlformats.org/officeDocument/2006/relationships/slide" Target="/ppt/slides/slide6.xml" Id="R07bcf34ebfb540bf" /><Relationship Type="http://schemas.openxmlformats.org/officeDocument/2006/relationships/slide" Target="/ppt/slides/slide7.xml" Id="Reb76a516d4b742fa" /><Relationship Type="http://schemas.openxmlformats.org/officeDocument/2006/relationships/slide" Target="/ppt/slides/slide8.xml" Id="R3cda193a2cdd401a" /><Relationship Type="http://schemas.openxmlformats.org/officeDocument/2006/relationships/slide" Target="/ppt/slides/slide9.xml" Id="Rf17b8ba783f842bc" /><Relationship Type="http://schemas.openxmlformats.org/officeDocument/2006/relationships/slide" Target="/ppt/slides/slide10.xml" Id="R01b4bb67a0aa41a4" /><Relationship Type="http://schemas.openxmlformats.org/officeDocument/2006/relationships/slide" Target="/ppt/slides/slide11.xml" Id="R966ecbaa1e16419b" /><Relationship Type="http://schemas.openxmlformats.org/officeDocument/2006/relationships/slide" Target="/ppt/slides/slide12.xml" Id="R2542e06bda164b12" /><Relationship Type="http://schemas.openxmlformats.org/officeDocument/2006/relationships/slide" Target="/ppt/slides/slide13.xml" Id="Rb72cdafbf6f44f3f" /><Relationship Type="http://schemas.openxmlformats.org/officeDocument/2006/relationships/slide" Target="/ppt/slides/slide14.xml" Id="R68885ab4f83b42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7a69867da549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226c9d545842e0" /><Relationship Type="http://schemas.openxmlformats.org/officeDocument/2006/relationships/notesMaster" Target="/ppt/notesMasters/notesMaster1.xml" Id="Rdd0f551584094e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cf3f67c4ec4d44" /><Relationship Type="http://schemas.openxmlformats.org/officeDocument/2006/relationships/notesMaster" Target="/ppt/notesMasters/notesMaster1.xml" Id="Rba7a4a16400048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00260a73a346b5" /><Relationship Type="http://schemas.openxmlformats.org/officeDocument/2006/relationships/notesMaster" Target="/ppt/notesMasters/notesMaster1.xml" Id="Rc1c57b5ac94d4d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01230a5b494fb8" /><Relationship Type="http://schemas.openxmlformats.org/officeDocument/2006/relationships/notesMaster" Target="/ppt/notesMasters/notesMaster1.xml" Id="R2cb7811382f544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1e600879c24cb1" /><Relationship Type="http://schemas.openxmlformats.org/officeDocument/2006/relationships/notesMaster" Target="/ppt/notesMasters/notesMaster1.xml" Id="Rf2dda3883c7e42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334a3c40714fff" /><Relationship Type="http://schemas.openxmlformats.org/officeDocument/2006/relationships/notesMaster" Target="/ppt/notesMasters/notesMaster1.xml" Id="Re8e052862e8642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e7f8fda4f64538" /><Relationship Type="http://schemas.openxmlformats.org/officeDocument/2006/relationships/notesMaster" Target="/ppt/notesMasters/notesMaster1.xml" Id="R90088296b29246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cbf61104a44944" /><Relationship Type="http://schemas.openxmlformats.org/officeDocument/2006/relationships/notesMaster" Target="/ppt/notesMasters/notesMaster1.xml" Id="Rf6c8d572e4454f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20289b97b84007" /><Relationship Type="http://schemas.openxmlformats.org/officeDocument/2006/relationships/notesMaster" Target="/ppt/notesMasters/notesMaster1.xml" Id="R37c502b8be8e47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05a18928ff4733" /><Relationship Type="http://schemas.openxmlformats.org/officeDocument/2006/relationships/notesMaster" Target="/ppt/notesMasters/notesMaster1.xml" Id="Ra50abf9196c545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a987300f814468" /><Relationship Type="http://schemas.openxmlformats.org/officeDocument/2006/relationships/notesMaster" Target="/ppt/notesMasters/notesMaster1.xml" Id="Ra1f782030dbc49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151e6dd2994840" /><Relationship Type="http://schemas.openxmlformats.org/officeDocument/2006/relationships/notesMaster" Target="/ppt/notesMasters/notesMaster1.xml" Id="R6279b332fe204e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7e2d1758404385" /><Relationship Type="http://schemas.openxmlformats.org/officeDocument/2006/relationships/notesMaster" Target="/ppt/notesMasters/notesMaster1.xml" Id="Rde99a7874e9449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517a10d27041fd" /><Relationship Type="http://schemas.openxmlformats.org/officeDocument/2006/relationships/notesMaster" Target="/ppt/notesMasters/notesMaster1.xml" Id="R3281b0e3770342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本演示说明分享版的真实代码结构和搭建步骤。封面背景为 AI 生成的抽象研究物件，不包含任何真实论文或数据。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依据：platform/研究流水线Web/static/index.html；platform/paper_reader/static/。四个入口共用本机主服务。摘要检索和全文桥接是底层能力，不是独立的研究记录入口。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依据：run.py；platform/研究流水线Web/server.py；paper_reader_integration.py；platform/paper_reader/app.py。研究主应用和精读应用通过 DispatcherMiddleware 在同一个进程中挂载。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依据：platform/研究流水线Web/research_tasks.py、server.py、prompts.py、citations.py。S1 按批生成；S2 七项评分；S3 对入选构想检索；S4 可 pass 或 drop。任务逐单元保存，手动继续复用已保存结果。并发上限见 concurrency.json。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platform/论文检索/retrieval_service.py、platform/paper_reader/library.py、tools/index_fulltext.py。默认中英文每种最多25篇，近期优先最多10篇，数量按少的一种平衡。可配置仅中文或仅英文。检索分数是排序信号，不是结论可信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依据：platform/paper_reader/research_bridge.py、library.py；platform/研究流水线Web/static/reading-bridge.js。先读取服务端已保存的研究引用，不信任浏览器自由提交的书目替代原始研究记录。载入保存来源，不调用付费生成。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依据：platform/paper_reader/prompts.py、documents.py、app.py、report_workflow.py。报告撰写一次完成；超长输入先分段提取证据。未获正文时不能从摘要补全假说、机制或未来方向。APA 缺失字段须标注待核实。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依据：platform/paper_reader/memory.py、memory_jobs.py、static/memory.js。先保存原文和报告，再单次定位；首次失败不丢报告。自动关联默认待核实。人工修订字段有保护。备份是本地长期保存的重要组成。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platform/研究流水线Web/prompts/*.json；platform/paper_reader/configuration.py、prompt_library.py。运行提示词控制实际任务，个人集合不会自动覆盖它们。研究构想修改运行提示词需要本机管理员登录，分享版随机生成初始密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依据：platform/研究流水线Web/llm_config.py、server.py、research_tasks.py；platform/paper_reader/llm.py。研究阶段与精读可独立选择模型。云端和本地计算分开；默认 DeepSeek 地址为公开地址，不附带密钥。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依据：run.py、config.example.json、平台各 SQLite 模块。实际运行会在自己的 user_data 下写入隐私材料；源码分享不等于运行后整目录可直接转发。原安装数据未纳入本包。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依据：README.md、portable.py 和对应平台的启动脚本。已内置 Python、程序依赖、Ollama 和公开嵌入模型。Mac 苹果芯片版本完成本机启动和实际检索检查。Windows x64 已检查二进制与依赖，尚未做 Windows 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依据：分享包中的实际文件。修改模型输出字段时，要同步验证器、持久化和前端渲染。可替换检索后端，但稳定文献编号、来源定位及断点保存逻辑应保留。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依据：documents.py、README.md、run.py、research_tasks.py。没有实现 OCR、跨用户授权或公开部署。原有学习资料、文献和模型生成内容均需使用者核验。此页区分现有实现与未来扩展。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92a4e524241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3880b14497453e" /><Relationship Type="http://schemas.openxmlformats.org/officeDocument/2006/relationships/slideLayout" Target="/ppt/slideLayouts/slideLayout1.xml" Id="R9fd4db6e486940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d4db6e486940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1be48ba1e411f" /><Relationship Type="http://schemas.openxmlformats.org/officeDocument/2006/relationships/image" Target="/ppt/media/image.png" Id="R3066400f1c124da0" /><Relationship Type="http://schemas.openxmlformats.org/officeDocument/2006/relationships/notesSlide" Target="/ppt/notesSlides/notesSlide1.xml" Id="Rdbbce2ed849c48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5681348be4e5a" /><Relationship Type="http://schemas.openxmlformats.org/officeDocument/2006/relationships/notesSlide" Target="/ppt/notesSlides/notesSlide2.xml" Id="R9fef5992374645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efadc1e8c4209" /><Relationship Type="http://schemas.openxmlformats.org/officeDocument/2006/relationships/notesSlide" Target="/ppt/notesSlides/notesSlide3.xml" Id="R62b95625b93041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ad1b9f98a486d" /><Relationship Type="http://schemas.openxmlformats.org/officeDocument/2006/relationships/notesSlide" Target="/ppt/notesSlides/notesSlide4.xml" Id="R78ad8709fecf4a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6826562c54a51" /><Relationship Type="http://schemas.openxmlformats.org/officeDocument/2006/relationships/notesSlide" Target="/ppt/notesSlides/notesSlide5.xml" Id="Rd893927b34f247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a7a447b8f4252" /><Relationship Type="http://schemas.openxmlformats.org/officeDocument/2006/relationships/notesSlide" Target="/ppt/notesSlides/notesSlide6.xml" Id="R55b216b104de41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314cfbe9f4fce" /><Relationship Type="http://schemas.openxmlformats.org/officeDocument/2006/relationships/notesSlide" Target="/ppt/notesSlides/notesSlide7.xml" Id="Rffba23fabfb245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693f9ca594f3c" /><Relationship Type="http://schemas.openxmlformats.org/officeDocument/2006/relationships/notesSlide" Target="/ppt/notesSlides/notesSlide8.xml" Id="R484fa56ddaf84f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f7ae408064d99" /><Relationship Type="http://schemas.openxmlformats.org/officeDocument/2006/relationships/notesSlide" Target="/ppt/notesSlides/notesSlide9.xml" Id="Rdee6696f73e340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dee3559b342d4" /><Relationship Type="http://schemas.openxmlformats.org/officeDocument/2006/relationships/notesSlide" Target="/ppt/notesSlides/notesSlide10.xml" Id="R520eb3c8089844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22d2030f44f82" /><Relationship Type="http://schemas.openxmlformats.org/officeDocument/2006/relationships/notesSlide" Target="/ppt/notesSlides/notesSlide11.xml" Id="R6261015aa63344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4c40532894e79" /><Relationship Type="http://schemas.openxmlformats.org/officeDocument/2006/relationships/notesSlide" Target="/ppt/notesSlides/notesSlide12.xml" Id="R8b5c4e57bf6247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f2ab39da14f36" /><Relationship Type="http://schemas.openxmlformats.org/officeDocument/2006/relationships/notesSlide" Target="/ppt/notesSlides/notesSlide13.xml" Id="R00fe8befd01748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732d342534823" /><Relationship Type="http://schemas.openxmlformats.org/officeDocument/2006/relationships/notesSlide" Target="/ppt/notesSlides/notesSlide14.xml" Id="R896dd962764049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C5A61-CAB9-4C29-A022-5863CB6D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6400f1c124da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48208-6770-4DB8-8D9B-9DE798FE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42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ResearchForge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B8277-78EA-4B72-B1BA-FE45DAA8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286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研究工作台架构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32176-BF50-4513-9278-53B44D28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解压即用版 · 模块设计与运行方式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32B5B-E7AA-46C2-BB1E-2D468AE2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研究构想  /  论文精读  /  文献地图  /  提示词库</a:t>
            </a:r>
          </a:p>
        </p:txBody>
      </p:sp>
    </p:spTree>
    <p:extLst>
      <p:ext uri="{BB962C8B-B14F-4D97-AF65-F5344CB8AC3E}">
        <p14:creationId xmlns:p14="http://schemas.microsoft.com/office/powerpoint/2010/main" val="2035385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D6DE1-52E0-4598-B835-EF4516A9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四个使用入口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46036-E28A-4F83-AC19-30E86A1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476750"/>
                <a:gridCol w="4438650"/>
              </a:tblGrid>
              <a:tr h="7524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入口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主要工作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长期保存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研究构想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生成、评审、摘要检索、优化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任务、评分、文献与提案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论文精读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分析上传或本地载入的全文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原文快照、报告、提示词快照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文献地图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按领域定位，查看论文与关联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作者、年份、卡片、版本、关系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提示词库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积累、搜索、修改与复用提示词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分类、收藏、历史版本与备份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2AC9D-12F9-4C9C-84FD-783B218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工作流：研究构想 → 本地全文 → 论文精读 → 文献地图</a:t>
            </a:r>
          </a:p>
        </p:txBody>
      </p:sp>
    </p:spTree>
    <p:extLst>
      <p:ext uri="{BB962C8B-B14F-4D97-AF65-F5344CB8AC3E}">
        <p14:creationId xmlns:p14="http://schemas.microsoft.com/office/powerpoint/2010/main" val="348239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E7354-1912-48D4-8016-60C72CEB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整体技术结构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BA04D-5588-4610-B949-41A72F8F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238625"/>
                <a:gridCol w="481965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实现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职责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HTML / CSS / JavaScript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页面、进度、搜索、阅读、编辑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统一服务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Flask + 挂载 /papers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研究接口与精读接口共用本机端口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工作模块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阶段任务 / 检索 / 精读 / 定位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编排调用、校验结果、保存断点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本地持久化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SQLite + 文件系统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任务、原文、索引、知识卡片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模型能力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兼容 API + 内置 Ollama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云端生成；本地摘要向量检索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1F059-0723-4B59-B672-A6F6B8FF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默认只监听 127.0.0.1；分享版使用独立端口和自己的数据目录。</a:t>
            </a:r>
          </a:p>
        </p:txBody>
      </p:sp>
    </p:spTree>
    <p:extLst>
      <p:ext uri="{BB962C8B-B14F-4D97-AF65-F5344CB8AC3E}">
        <p14:creationId xmlns:p14="http://schemas.microsoft.com/office/powerpoint/2010/main" val="951171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1EB4C-A979-4536-ABAD-02EED8CF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研究构想：四阶段流水线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5D3E6-F33F-4196-A38A-A2A3274F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37EEF-41D8-4705-BC55-5339B83A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FAD16-D1BA-4D18-AABC-5B53DA45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19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构想生成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7AACC-F052-4B32-8625-C04C38BC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647825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围绕研究问题提出可检验的构想，避免批次间重复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641DB-C3C5-4B11-8C3A-FEC91B1F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S2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16438-4D48-4AEC-8E5F-A5F47446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3842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评审筛选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63A20-0FCA-4B7A-8C43-26217304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66700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按重要性、洞察、机制等七项标准评分与排序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A2761-7586-40D4-91AA-22A5A83B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S3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63AC4-0D6F-4871-B926-59064007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576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摘要检索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E6206-F734-42AE-8FBF-9515EA2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686175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在自己的语料上做关键词与向量混合检索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0D5B2-9B6B-4F4D-B294-F837E9B5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S4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52F2D-AD5B-4B98-9854-513CBFDF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767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提案优化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D6191-C672-45AC-8630-DB50CDDF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70535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对照真实来源判断去留，说明假说与理论贡献</a:t>
            </a:r>
          </a:p>
        </p:txBody>
      </p:sp>
    </p:spTree>
    <p:extLst>
      <p:ext uri="{BB962C8B-B14F-4D97-AF65-F5344CB8AC3E}">
        <p14:creationId xmlns:p14="http://schemas.microsoft.com/office/powerpoint/2010/main" val="1816290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73463-5767-445B-ACD6-B26818EB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两套文献索引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EE7CF-1729-4A82-BA22-94DAFC4B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18C35-4A45-414D-A441-02B0D2E1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摘要索引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B0047-6E88-4BCA-BC71-E729B209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5000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输入：题名、作者、年份、摘要、关键词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方法：FTS5 / BM25 + 本地 embedding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用途：为研究构想定位候选文献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6B4BC-B9D1-44D7-A925-9A56E33F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全文索引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BAE08-CE53-4FEE-8532-1A5FBC20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5000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输入：PDF / MD / TXT 文件与元数据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方法：本地题名、关键词与 DOI 对应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用途：找到并载入真正要精读的原文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5C568-196B-421D-82C6-C2D31649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摘要记录可能没有对应全文。两套索引通过准确书目信息连接。</a:t>
            </a:r>
          </a:p>
        </p:txBody>
      </p:sp>
    </p:spTree>
    <p:extLst>
      <p:ext uri="{BB962C8B-B14F-4D97-AF65-F5344CB8AC3E}">
        <p14:creationId xmlns:p14="http://schemas.microsoft.com/office/powerpoint/2010/main" val="17046352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72CB6-6AD9-4398-89C2-6082F816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从参考文献连接到精读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ACE8E-D1AF-42FC-952E-3297A264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0C64E-57DE-4A42-A864-85145869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保存的引用 → DOI / 题名 / 年份核对 → 本地文件 → 精读草稿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705100"/>
          <a:ext xmlns:a="http://schemas.openxmlformats.org/drawingml/2006/main" cx="108204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524250"/>
                <a:gridCol w="472440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匹配状态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页面行为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保留的证据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唯一准确匹配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可直接载入精读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原任务、构想、引用、匹配方式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存在版本或字段冲突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预览后由使用者确认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候选与版本差异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本地没有找到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继续搜索或自行提供文件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如实保留缺失状态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4DBF1-28C5-435F-8902-3367E13C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载入不等于开始分析。点击“开始精读”后才发送论文材料至 API。</a:t>
            </a:r>
          </a:p>
        </p:txBody>
      </p:sp>
    </p:spTree>
    <p:extLst>
      <p:ext uri="{BB962C8B-B14F-4D97-AF65-F5344CB8AC3E}">
        <p14:creationId xmlns:p14="http://schemas.microsoft.com/office/powerpoint/2010/main" val="670162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92DEB-A65E-4CF9-9DE5-4A751802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论文精读：固定报告与证据定位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C593B-8B29-402A-8A15-81E2C6F3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55180-22D2-4D83-8DF4-AE8D6485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第一部分：论文精读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20BDF-C87E-4A40-B68E-EA1BB58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6048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基本信息、APA 引用与摘要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问题、文献、核心理论、研究假说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贡献、数据、测量、设计、主要发现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机制、局限、未来方向、复述与故事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B5FA0-280F-42E2-9FC4-A2CB2E95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38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第二部分：研究对比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41D53-335A-4EFE-A261-D6003748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8600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基于使用者提供的研究说明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辨认接近之处与实质差异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解释可借鉴方法和潜在增量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明确下一步需要什么证据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500C9-DCE2-4C6C-85FD-8606461E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重要结论定位到页码或行号；生活故事标明虚构类比，不写进事实库。</a:t>
            </a:r>
          </a:p>
        </p:txBody>
      </p:sp>
    </p:spTree>
    <p:extLst>
      <p:ext uri="{BB962C8B-B14F-4D97-AF65-F5344CB8AC3E}">
        <p14:creationId xmlns:p14="http://schemas.microsoft.com/office/powerpoint/2010/main" val="1290085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EF09F-8285-40B6-B01F-8AAF92DE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文献地图：让报告成为可复用的知识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D8456-C2C9-4B5F-9E52-F487AAA9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678ED-9CF8-4E35-9F43-991ABD24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8115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一篇论文：题名 + 作者 + 年份 → 领域 / 主题 / 研究问题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D4F0D-21DE-41EB-B4F6-D9DEF1F6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知识卡片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165A0-0C1E-47E0-9F26-B52F2823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051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概括理论、方法、数据、发现与开放问题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C17DB-46CC-4A44-B13F-62D6CEE5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报告版本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B5CFC-6791-41D7-B679-1A55CBBE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57575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保留每次精读结果，并连接原文与来源研究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0B95C-0A10-4B86-B5CE-AB97A7D1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文献关系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F6ECB-CB21-4D8E-B243-2B37C221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10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记录问题相近、理论关联、方法借鉴及待核实分歧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6D87A-D33E-4284-808C-DDD473F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备份恢复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6533A-3A38-4930-A640-D3B7F00C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62525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导出原文、卡片、版本与关系；在另一台电脑恢复</a:t>
            </a:r>
          </a:p>
        </p:txBody>
      </p:sp>
    </p:spTree>
    <p:extLst>
      <p:ext uri="{BB962C8B-B14F-4D97-AF65-F5344CB8AC3E}">
        <p14:creationId xmlns:p14="http://schemas.microsoft.com/office/powerpoint/2010/main" val="2126937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CDECD-48D2-41B7-8EA7-DDBB00B7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两类提示词，分别管理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5E304-FD0E-44A5-9CC0-52A10717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3524250"/>
                <a:gridCol w="4295775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类别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修改后的影响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研究构想运行提示词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构想生成、评审、提案优化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下一次对应阶段读取当前模板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精读运行提示词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证据提取、报告、地图定位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新任务保存启动时的提示词快照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个人提示词集合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收藏、分类、版本、复制复用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不会自动改写运行提示词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D0EEF-B479-4717-8FDF-06BE43A3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62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个人集合可从自己配置的文件夹导入；分享版默认不扫描桌面。</a:t>
            </a:r>
          </a:p>
        </p:txBody>
      </p:sp>
    </p:spTree>
    <p:extLst>
      <p:ext uri="{BB962C8B-B14F-4D97-AF65-F5344CB8AC3E}">
        <p14:creationId xmlns:p14="http://schemas.microsoft.com/office/powerpoint/2010/main" val="10696955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3E0E1-F796-4C6F-AC9A-6E1556A5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模型接口与任务执行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310F3-7950-436D-8940-E8AD8C93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93499-4698-4ADD-8097-01F8333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模型怎么接入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8E58A-2024-405F-9873-9207D8B2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14575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兼容 Chat Completions 的服务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连接地址与密钥集中管理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研究阶段模型在配置文件中选择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精读模型与思考模式在页面中选择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9A1AA-8F55-454D-B998-DC119DA4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过程怎么保留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3382F-FE77-454C-90C0-0D364D65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14575"/>
            <a:ext cx="5000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任务按完成单元写入本地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页面关闭不等于后台停止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失败时保留证据和部分内容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手动继续复用已完成步骤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FEC11-857C-4F11-A69C-677D7B9F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超长文档、首次地图定位和部分研究字段补全，可能产生额外调用。</a:t>
            </a:r>
          </a:p>
        </p:txBody>
      </p:sp>
    </p:spTree>
    <p:extLst>
      <p:ext uri="{BB962C8B-B14F-4D97-AF65-F5344CB8AC3E}">
        <p14:creationId xmlns:p14="http://schemas.microsoft.com/office/powerpoint/2010/main" val="1698581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0CE8C-2982-40DA-A42E-71BE9DB2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分享版的数据边界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B19D4-DE5C-4736-99F9-82FEF8A5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048125"/>
                <a:gridCol w="343852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数据类别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所在位置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初始分享包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应用代码、通用模板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platform/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论文、摘要、向量与索引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user_data/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不包含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研究主题、提案与精读报告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user_data/research、reader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不包含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API 密钥、会话与管理员密码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当前安装的 user_data/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不包含；由接收者生成或填写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个人提示词、地图与备份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user_data/reader/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不包含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1463B-9A48-4D65-BB74-DE951BC8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运行环境和公开嵌入模型随包提供；私有研究资料由接收者自己填入。</a:t>
            </a:r>
          </a:p>
        </p:txBody>
      </p:sp>
    </p:spTree>
    <p:extLst>
      <p:ext uri="{BB962C8B-B14F-4D97-AF65-F5344CB8AC3E}">
        <p14:creationId xmlns:p14="http://schemas.microsoft.com/office/powerpoint/2010/main" val="3057314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A389C-33F2-4CF7-98A8-69BA8394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解压后开始使用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3CEEA-4720-444F-A1E5-16CD0653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DEE0F-F0E1-4102-A111-4C2C2A9B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3C253-3571-4587-9F31-D45D12FB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240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完整解压对应版本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3763B-3911-48C0-9D64-7A612163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543050"/>
            <a:ext cx="547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Mac 苹果芯片或 Windows 64 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3CFD1-A89F-4A7E-9BC1-7F1A0F54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4D5E8-C42F-4108-B37B-9D9465D9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9077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双击对应启动文件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692E8-368D-4258-917C-6E762422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09825"/>
            <a:ext cx="547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无需安装依赖；自动打开浏览器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90D11-3F2B-4436-8088-1F9D5AA7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32DCB-4EBE-4053-AC79-01E095FA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575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填写自己的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3DA79-9406-48C1-8E99-28FB94EE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276600"/>
            <a:ext cx="547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接口、密钥、模型、思考模式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6E7AE-CF99-4BDC-A5CA-8B92F1E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D33CE-6CD9-41C5-82C8-C9562DCA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2432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按需要接入材料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6608A-AE23-46B7-BD59-A558986B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143375"/>
            <a:ext cx="547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直接上传全文，或配置摘要库与本地全文索引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89D76-317D-44CD-914C-AD89564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CA4DB-0817-4459-8BEC-E44F8FF1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911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分析并定期备份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070D0-1FC9-4067-8F94-AACC43F3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010150"/>
            <a:ext cx="547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使用新记录、文献地图和个人提示词集合</a:t>
            </a:r>
          </a:p>
        </p:txBody>
      </p:sp>
    </p:spTree>
    <p:extLst>
      <p:ext uri="{BB962C8B-B14F-4D97-AF65-F5344CB8AC3E}">
        <p14:creationId xmlns:p14="http://schemas.microsoft.com/office/powerpoint/2010/main" val="13639491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BF496-C238-4CAB-95E6-7248DC2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开发者的代码入口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72656-E362-42DF-ADD3-50137628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124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6873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想修改什么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从哪里开始</a:t>
                      </a:r>
                    </a:p>
                  </a:txBody>
                  <a:tcPr marL="91440" marR="91440" marT="45720" marB="45720">
                    <a:solidFill>
                      <a:srgbClr val="376955"/>
                    </a:solidFill>
                  </a:tcPr>
                </a:tc>
              </a:tr>
              <a:tr h="687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研究阶段与评分逻辑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研究流水线Web/server.py、research_tasks.py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运行提示词和结构约束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研究流水线Web/prompts/、paper_reader/prompts.py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687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摘要导入与混合检索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论文检索/retrieval_service.py、literature_search.py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7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全文搜索与引用连接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tools/index_fulltext.py、paper_reader/research_bridge.py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6873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精读、地图和提示词集合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E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paper_reader/app.py、memory.py、prompt_library.py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69060-F0CA-421F-9DBA-65762530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修改后先用合成材料验证，再接入真实资料。</a:t>
            </a:r>
          </a:p>
        </p:txBody>
      </p:sp>
    </p:spTree>
    <p:extLst>
      <p:ext uri="{BB962C8B-B14F-4D97-AF65-F5344CB8AC3E}">
        <p14:creationId xmlns:p14="http://schemas.microsoft.com/office/powerpoint/2010/main" val="10108172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22DC0-70C9-4752-BE6F-68A865BE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能力边界与扩展方向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0F39A-C0D4-40B1-8079-37F884E1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7469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89396-AECE-49B5-8272-916DDA24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当前适合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E384B-3D2D-4CC4-8728-25D8CD6C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000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个人在本地使用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结构化地积累研究构想与精读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保留出处、版本和阅读脉络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用自己的数据与模型配置扩展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D878C-DEE8-43AE-B11E-EF6F6C1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继续扩展需要补齐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CCBF7-BBDB-42F0-81B7-99CD1C50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5000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扫描论文的 OCR 和图表解析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多用户账号、权限与数据隔离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公共服务器部署和运维机制</a:t>
            </a:r>
          </a:p>
          <a:p xmlns:a="http://schemas.openxmlformats.org/drawingml/2006/main">
            <a:pPr>
              <a:def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3E33"/>
                </a:solidFill>
                <a:latin typeface="Hiragino Sans GB"/>
                <a:ea typeface="Hiragino Sans GB"/>
                <a:cs typeface="Hiragino Sans GB"/>
              </a:rPr>
              <a:t>更强的检索评估与事实核查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E4A39-D640-4363-B0CC-48274592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76955"/>
                </a:solidFill>
                <a:latin typeface="Hiragino Sans GB"/>
                <a:ea typeface="Hiragino Sans GB"/>
                <a:cs typeface="Hiragino Sans GB"/>
              </a:rPr>
              <a:t>源码、运行环境和公开嵌入模型一同交付；自己的论文和 API 由使用者填入。</a:t>
            </a:r>
          </a:p>
        </p:txBody>
      </p:sp>
    </p:spTree>
    <p:extLst>
      <p:ext uri="{BB962C8B-B14F-4D97-AF65-F5344CB8AC3E}">
        <p14:creationId xmlns:p14="http://schemas.microsoft.com/office/powerpoint/2010/main" val="863103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2026-09-30T06:14:51.3460000Z</dcterms:created>
  <dcterms:modified xsi:type="dcterms:W3CDTF">2026-09-30T06:14:51.3460000Z</dcterms:modified>
</coreProperties>
</file>